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21" r:id="rId13"/>
    <p:sldId id="320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870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640080" cy="64008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Shape 4"/>
          <p:cNvSpPr/>
          <p:nvPr/>
        </p:nvSpPr>
        <p:spPr>
          <a:xfrm>
            <a:off x="6766560" y="1371600"/>
            <a:ext cx="640080" cy="64008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7" name="Shape 5"/>
          <p:cNvSpPr/>
          <p:nvPr/>
        </p:nvSpPr>
        <p:spPr>
          <a:xfrm>
            <a:off x="7589520" y="1371600"/>
            <a:ext cx="640080" cy="64008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1" name="Shape 9"/>
          <p:cNvSpPr/>
          <p:nvPr/>
        </p:nvSpPr>
        <p:spPr>
          <a:xfrm>
            <a:off x="6766560" y="2194560"/>
            <a:ext cx="640080" cy="64008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2" name="Shape 10"/>
          <p:cNvSpPr/>
          <p:nvPr/>
        </p:nvSpPr>
        <p:spPr>
          <a:xfrm>
            <a:off x="7589520" y="2194560"/>
            <a:ext cx="640080" cy="64008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Shape 11"/>
          <p:cNvSpPr/>
          <p:nvPr/>
        </p:nvSpPr>
        <p:spPr>
          <a:xfrm>
            <a:off x="8412480" y="2194560"/>
            <a:ext cx="640080" cy="64008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5" name="Shape 13"/>
          <p:cNvSpPr/>
          <p:nvPr/>
        </p:nvSpPr>
        <p:spPr>
          <a:xfrm>
            <a:off x="6406596" y="197884"/>
            <a:ext cx="2560320" cy="41148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6507695" y="164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SYSTÈME D'EXPLOITATION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1188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CBD5E1"/>
                </a:solidFill>
              </a:rPr>
              <a:t>DOSSIER DE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94360" y="1743671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B4D8"/>
                </a:solidFill>
              </a:rPr>
              <a:t>RÉALISATION</a:t>
            </a:r>
            <a:endParaRPr lang="en-US" sz="6000" dirty="0"/>
          </a:p>
        </p:txBody>
      </p:sp>
      <p:sp>
        <p:nvSpPr>
          <p:cNvPr id="19" name="Shape 17"/>
          <p:cNvSpPr/>
          <p:nvPr/>
        </p:nvSpPr>
        <p:spPr>
          <a:xfrm>
            <a:off x="665838" y="2807852"/>
            <a:ext cx="5486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0" name="Text 18"/>
          <p:cNvSpPr/>
          <p:nvPr/>
        </p:nvSpPr>
        <p:spPr>
          <a:xfrm>
            <a:off x="640080" y="2984421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</a:rPr>
              <a:t>Conception et développement de RAM Dumper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</a:rPr>
              <a:t>Outil d'extraction contrôlée du contenu de la mémoire vive sous NetBSD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5029200" cy="1005840"/>
          </a:xfrm>
          <a:prstGeom prst="rect">
            <a:avLst/>
          </a:prstGeom>
          <a:solidFill>
            <a:srgbClr val="1B2B3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2" name="Text 20"/>
          <p:cNvSpPr/>
          <p:nvPr/>
        </p:nvSpPr>
        <p:spPr>
          <a:xfrm>
            <a:off x="868680" y="3749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ÉQUIPE  •  </a:t>
            </a:r>
            <a:r>
              <a:rPr lang="en-US" sz="1100" dirty="0">
                <a:solidFill>
                  <a:srgbClr val="FFFFFF"/>
                </a:solidFill>
              </a:rPr>
              <a:t>TEMGOUA NJOUNANG Cedric Lionnel  |  SIMO SOH Yannick Dylan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Supervision  •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M. NGUIMBUS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Filière  •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Sécurité Des Systeme d’Information  |  2025-2026</a:t>
            </a:r>
            <a:endParaRPr lang="en-US" sz="1100" dirty="0"/>
          </a:p>
        </p:txBody>
      </p:sp>
      <p:pic>
        <p:nvPicPr>
          <p:cNvPr id="25" name="Image 24" descr="Une image contenant croquis, oiseau, dessin, Dessin au trait&#10;&#10;Le contenu généré par l’IA peut être incorrect.">
            <a:extLst>
              <a:ext uri="{FF2B5EF4-FFF2-40B4-BE49-F238E27FC236}">
                <a16:creationId xmlns:a16="http://schemas.microsoft.com/office/drawing/2014/main" id="{450B74D3-8B41-D368-EC5B-634A143C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0582"/>
            <a:ext cx="924703" cy="845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PLAN DU DOSSIER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E0EF"/>
                </a:solidFill>
              </a:rPr>
              <a:t>Dossier de Réalisation – RAM Dumper sous NetBSD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Introduction &amp; Rappel de conception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Contexte, objectifs de la réalisation, environnement technique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Environnement de développement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Installation NetBSD, outils, dépendances (libc, kvm, sysctl)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8254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779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Architecture du code source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054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Structure des modules, organisation des fichiers C/C++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575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5295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Implémentation du moteur d'extraction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8039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Accès /dev/mem &amp; kvm, lecture raw, bufferisation 1MB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325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279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API REST &amp; Interface Web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553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Backend C, endpoints REST, authentification JWT, WebSocket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Sécurité &amp; Gestion des privilèges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Root UID=0, RBAC, chiffrement HTTPS, SHA-256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2075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Tests &amp;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Tests unitaires, intégration, résultats de performance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28254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94960" y="2779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Difficultés &amp; Solutions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3054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Problèmes rencontrés sur NetBSD et solutions adoptées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3575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/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35295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Conclusion &amp; Perspectives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94960" y="38039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Bilan technique, livrables produits, déploiement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B4D8"/>
                </a:solidFill>
              </a:rPr>
              <a:t>01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 &amp; Rappel de Conception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Contexte technique et objectifs de la phase de réalisation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2743200" cy="3566160"/>
          </a:xfrm>
          <a:prstGeom prst="rect">
            <a:avLst/>
          </a:prstGeom>
          <a:solidFill>
            <a:srgbClr val="1B2B3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Contexte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RAM Dumper : extraction contrôlée de la mémoire vive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Plateforme cible : NetBSD (UNIX BSD)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Architecture web : Frontend SPA + Backend C REST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Permissions requises : UID = 0 (root)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2743200" cy="3566160"/>
          </a:xfrm>
          <a:prstGeom prst="rect">
            <a:avLst/>
          </a:prstGeom>
          <a:solidFill>
            <a:srgbClr val="1B2B3A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338328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Objectifs Réalisation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Implémenter les modules C/C++ définis en conception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Développer l'API REST &amp; l'interface web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063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Intégrer </a:t>
            </a:r>
            <a:r>
              <a:rPr lang="en-US" sz="1100" dirty="0" err="1">
                <a:solidFill>
                  <a:srgbClr val="CBD5E1"/>
                </a:solidFill>
              </a:rPr>
              <a:t>sécurité</a:t>
            </a:r>
            <a:r>
              <a:rPr lang="en-US" sz="1100" dirty="0">
                <a:solidFill>
                  <a:srgbClr val="CBD5E1"/>
                </a:solidFill>
              </a:rPr>
              <a:t> JWT + RBAC + SHA-256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Atteindre débit ≥ 100 MB/s, CPU &lt; 20%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743200" cy="3566160"/>
          </a:xfrm>
          <a:prstGeom prst="rect">
            <a:avLst/>
          </a:prstGeom>
          <a:solidFill>
            <a:srgbClr val="1B2B3A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4" name="Text 22"/>
          <p:cNvSpPr/>
          <p:nvPr/>
        </p:nvSpPr>
        <p:spPr>
          <a:xfrm>
            <a:off x="630936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Stack Technique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1874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Langage : C / C++ (backend kernel)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Interface : HTML5, CSS3, JavaScript (SPA)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063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API : REST + WebSocket temps réel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OS : NetBSD 10.x (VM VMware)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02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Environnement de Développement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Configuration de la machine NetBSD et chaîne d'outils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Configuration Machine (VMware)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4114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2" name="Text 10"/>
          <p:cNvSpPr/>
          <p:nvPr/>
        </p:nvSpPr>
        <p:spPr>
          <a:xfrm>
            <a:off x="365760" y="17099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Système d'exploitation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709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NetBSD 10.x (amd64)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365760" y="20391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Virtualisation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039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VMware Workstation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4114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365760" y="23682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RAM allouée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23682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 Go (dev) → 32 Go (test)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679192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365760" y="26974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CPU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2697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Intel Core i5 (4 cœurs)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008376"/>
            <a:ext cx="4114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4" name="Text 22"/>
          <p:cNvSpPr/>
          <p:nvPr/>
        </p:nvSpPr>
        <p:spPr>
          <a:xfrm>
            <a:off x="365760" y="302666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Stockage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0266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SSD 1 To NVMe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337560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7" name="Text 25"/>
          <p:cNvSpPr/>
          <p:nvPr/>
        </p:nvSpPr>
        <p:spPr>
          <a:xfrm>
            <a:off x="365760" y="335584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Compilateur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33558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GCC 12 / Clang 14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66744"/>
            <a:ext cx="4114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0" name="Text 28"/>
          <p:cNvSpPr/>
          <p:nvPr/>
        </p:nvSpPr>
        <p:spPr>
          <a:xfrm>
            <a:off x="365760" y="36850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Débogueur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14600" y="3685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GDB 12 + NetBSD kgdb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95928"/>
            <a:ext cx="4114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3" name="Text 31"/>
          <p:cNvSpPr/>
          <p:nvPr/>
        </p:nvSpPr>
        <p:spPr>
          <a:xfrm>
            <a:off x="365760" y="401421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Éditeur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14600" y="40142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VS Code + Clangd LSP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325112"/>
            <a:ext cx="4114800" cy="32918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6" name="Text 34"/>
          <p:cNvSpPr/>
          <p:nvPr/>
        </p:nvSpPr>
        <p:spPr>
          <a:xfrm>
            <a:off x="365760" y="43434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Navigateur test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14600" y="4343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Firefox 120 (interface web)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118872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0" name="Text 38"/>
          <p:cNvSpPr/>
          <p:nvPr/>
        </p:nvSpPr>
        <p:spPr>
          <a:xfrm>
            <a:off x="4846320" y="12618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Bibliothèques &amp; Dépendances NetBSD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81728" y="1700784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&lt;kvm.h&gt;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170992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Accès noyau : kvm_open(), kvm_read()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81728" y="2084832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&lt;sys/sysctl.h&gt;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209397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Infos système : hw.physmem, vm.stats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81728" y="2468880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&lt;sys/mman.h&gt;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247802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Mapping mémoire : mmap(), munmap()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81728" y="2852928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/dev/mem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80760" y="28620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Périphérique raw d'accès mémoire physique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81728" y="3236976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&lt;openssl/sha.h&gt;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080760" y="324612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Hachage SHA-256 incrémental des dumps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81728" y="3621024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&lt;microhttpd.h&gt;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080760" y="363016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Serveur HTTP léger (libmicrohttpd)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681728" y="4005072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&lt;jwt.h&gt;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080760" y="401421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Génération/validation tokens JWT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81728" y="4389120"/>
            <a:ext cx="1335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&lt;pthread.h&gt;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80760" y="439826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Multi-threading pour WebSocket temps réel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03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 du Code Source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Structure modulaire des fichiers et responsabilités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" y="1188720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502920" y="120700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2252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Point d'entrée, init, parsing CLI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1618488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Text 12"/>
          <p:cNvSpPr/>
          <p:nvPr/>
        </p:nvSpPr>
        <p:spPr>
          <a:xfrm>
            <a:off x="502920" y="16367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memory_dumper.c/.h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6550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Moteur extraction, gestion /dev/mem &amp; kvm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" y="2048256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502920" y="2066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security_manager.c/.h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0848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Vérification UID, validation plages, RBAC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" y="2478024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2" name="Text 20"/>
          <p:cNvSpPr/>
          <p:nvPr/>
        </p:nvSpPr>
        <p:spPr>
          <a:xfrm>
            <a:off x="502920" y="249631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file_manager.c/.h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514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Création fichier dump, écriture bufferisée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2336" y="2907792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502920" y="292608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integrity_checker.c/.h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29443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SHA-256 incrémental pendant écriture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2336" y="3337560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0" name="Text 28"/>
          <p:cNvSpPr/>
          <p:nvPr/>
        </p:nvSpPr>
        <p:spPr>
          <a:xfrm>
            <a:off x="502920" y="335584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web_api_controller.c/.h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33741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Serveur HTTP REST, endpoints, routing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2336" y="3767328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4" name="Text 32"/>
          <p:cNvSpPr/>
          <p:nvPr/>
        </p:nvSpPr>
        <p:spPr>
          <a:xfrm>
            <a:off x="502920" y="378561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auth_jwt.c/.h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380390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Génération/validation JWT, gestion sessions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02336" y="4197096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8" name="Text 36"/>
          <p:cNvSpPr/>
          <p:nvPr/>
        </p:nvSpPr>
        <p:spPr>
          <a:xfrm>
            <a:off x="502920" y="421538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config_manager.c/.h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29000" y="42336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Lecture/écriture config JSON, defaults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2336" y="4626864"/>
            <a:ext cx="8467344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2" name="Text 40"/>
          <p:cNvSpPr/>
          <p:nvPr/>
        </p:nvSpPr>
        <p:spPr>
          <a:xfrm>
            <a:off x="502920" y="464515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websocket_handler.c/.h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29000" y="4663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Progression temps réel via WebSocket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04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Implémentation – Moteur d'Extraction Mémoire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Accès bas niveau /dev/mem, kvm_open, bufferisation et formats de sortie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846320" cy="3794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8463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411480" y="116128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memory_dumper.c  –  Extrait principal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57276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Ouverture de l'interface kvm */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 = kvm_open(NULL, NULL, NULL, O_RDONLY,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90195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"ram_dumper");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06654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(!kd) { perror("kvm_open"); exit(1); 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23113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Obtenir taille physique via sysctl */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5603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sysctl(mib, 2, &amp;physmem, &amp;len, NULL, 0);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72491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288950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Lecture bufferisée par blocs de 1 MB */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05409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BUF_SZ (1024 * 1024)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*buf = malloc(BUF_SZ);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3832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off_t offset = 0;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5478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(offset &lt; (off_t)physmem) {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7124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 chunk = MIN(BUF_SZ, physmem-offset);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87705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kvm_read(kd, offset, buf, chunk);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404164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SHA256_Update(&amp;ctx, buf, chunk);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20624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write(fd_out, buf, chunk);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37083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offset += chunk;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53542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700016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kvm_close(kd);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49240" y="1143000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3" name="Text 31"/>
          <p:cNvSpPr/>
          <p:nvPr/>
        </p:nvSpPr>
        <p:spPr>
          <a:xfrm>
            <a:off x="5486400" y="1161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  Accès /dev/mem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13990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Ouverture en lecture seule O_RDONLY. Vérification préalable UID=0 (root requis).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1892808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7" name="Text 35"/>
          <p:cNvSpPr/>
          <p:nvPr/>
        </p:nvSpPr>
        <p:spPr>
          <a:xfrm>
            <a:off x="5486400" y="1911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  Bufferisation 1MB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21488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Lecture par blocs de 1 MiB pour limiter l'impact RAM et CPU à &lt; 20%.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2642616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1" name="Text 39"/>
          <p:cNvSpPr/>
          <p:nvPr/>
        </p:nvSpPr>
        <p:spPr>
          <a:xfrm>
            <a:off x="5486400" y="2660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  SHA-256 incrémental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2898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SHA256_Init / Update / Final simultané à l'écriture. Pas de double lecture.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49240" y="3392424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5" name="Text 43"/>
          <p:cNvSpPr/>
          <p:nvPr/>
        </p:nvSpPr>
        <p:spPr>
          <a:xfrm>
            <a:off x="5486400" y="34107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  Formats de sortie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0" y="36484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Raw binary (.raw), ELF core dump (.elf), format JSON métadonnées.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49240" y="4142232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9" name="Text 47"/>
          <p:cNvSpPr/>
          <p:nvPr/>
        </p:nvSpPr>
        <p:spPr>
          <a:xfrm>
            <a:off x="5486400" y="4160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  Dump sélectif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0" y="439826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Spécification d'une plage start_addr–end_addr avec validation par SecurityManager.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05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 REST &amp; Interface Web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Endpoints REST, authentification JWT, Dashboard SPA et WebSocket temps réel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595360" cy="310896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320040" y="1170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MÉTHODE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7320" y="1170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ENDPOINT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709160" y="1170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DESCRIPTION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453896"/>
            <a:ext cx="859536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Shape 11"/>
          <p:cNvSpPr/>
          <p:nvPr/>
        </p:nvSpPr>
        <p:spPr>
          <a:xfrm>
            <a:off x="320040" y="1508760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Text 12"/>
          <p:cNvSpPr/>
          <p:nvPr/>
        </p:nvSpPr>
        <p:spPr>
          <a:xfrm>
            <a:off x="320040" y="15087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151790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517904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Authentification, retourne token JWT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Shape 16"/>
          <p:cNvSpPr/>
          <p:nvPr/>
        </p:nvSpPr>
        <p:spPr>
          <a:xfrm>
            <a:off x="320040" y="1883664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320040" y="1883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18928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/api/dump/full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892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Lance extraction complète de la RAM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203704"/>
            <a:ext cx="859536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3" name="Shape 21"/>
          <p:cNvSpPr/>
          <p:nvPr/>
        </p:nvSpPr>
        <p:spPr>
          <a:xfrm>
            <a:off x="320040" y="2258568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4" name="Text 22"/>
          <p:cNvSpPr/>
          <p:nvPr/>
        </p:nvSpPr>
        <p:spPr>
          <a:xfrm>
            <a:off x="320040" y="22585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22677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/api/dump/selective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26771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Dump sélectif : body {start, end, format}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578608"/>
            <a:ext cx="8595360" cy="347472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8" name="Shape 26"/>
          <p:cNvSpPr/>
          <p:nvPr/>
        </p:nvSpPr>
        <p:spPr>
          <a:xfrm>
            <a:off x="320040" y="2633472"/>
            <a:ext cx="914400" cy="2377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9" name="Text 27"/>
          <p:cNvSpPr/>
          <p:nvPr/>
        </p:nvSpPr>
        <p:spPr>
          <a:xfrm>
            <a:off x="320040" y="263347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2642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/api/dump/status/:id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64261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Avancement en % de l'extraction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953512"/>
            <a:ext cx="859536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3" name="Shape 31"/>
          <p:cNvSpPr/>
          <p:nvPr/>
        </p:nvSpPr>
        <p:spPr>
          <a:xfrm>
            <a:off x="320040" y="3008376"/>
            <a:ext cx="914400" cy="2377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4" name="Text 32"/>
          <p:cNvSpPr/>
          <p:nvPr/>
        </p:nvSpPr>
        <p:spPr>
          <a:xfrm>
            <a:off x="320040" y="30083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01752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/api/dump/history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30175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Liste paginée des dumps passés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347472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8" name="Shape 36"/>
          <p:cNvSpPr/>
          <p:nvPr/>
        </p:nvSpPr>
        <p:spPr>
          <a:xfrm>
            <a:off x="320040" y="3383280"/>
            <a:ext cx="914400" cy="2377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9" name="Text 37"/>
          <p:cNvSpPr/>
          <p:nvPr/>
        </p:nvSpPr>
        <p:spPr>
          <a:xfrm>
            <a:off x="320040" y="3383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371600" y="339242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/api/dump/download/:id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392424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Téléchargement sécurisé du fichier dump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3" name="Shape 41"/>
          <p:cNvSpPr/>
          <p:nvPr/>
        </p:nvSpPr>
        <p:spPr>
          <a:xfrm>
            <a:off x="320040" y="3758184"/>
            <a:ext cx="914400" cy="2377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4" name="Text 42"/>
          <p:cNvSpPr/>
          <p:nvPr/>
        </p:nvSpPr>
        <p:spPr>
          <a:xfrm>
            <a:off x="320040" y="37581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71600" y="37673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/api/integrity/:id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63440" y="37673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Hash SHA-256 du dump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078224"/>
            <a:ext cx="8595360" cy="347472"/>
          </a:xfrm>
          <a:prstGeom prst="rect">
            <a:avLst/>
          </a:prstGeom>
          <a:solidFill>
            <a:srgbClr val="111B27"/>
          </a:solidFill>
          <a:ln w="12700">
            <a:solidFill>
              <a:srgbClr val="111B27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8" name="Shape 46"/>
          <p:cNvSpPr/>
          <p:nvPr/>
        </p:nvSpPr>
        <p:spPr>
          <a:xfrm>
            <a:off x="320040" y="4133088"/>
            <a:ext cx="91440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9" name="Text 47"/>
          <p:cNvSpPr/>
          <p:nvPr/>
        </p:nvSpPr>
        <p:spPr>
          <a:xfrm>
            <a:off x="320040" y="4133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371600" y="414223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3440" y="41422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Créer utilisateur (Admin uniquement)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453128"/>
            <a:ext cx="859536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3" name="Shape 51"/>
          <p:cNvSpPr/>
          <p:nvPr/>
        </p:nvSpPr>
        <p:spPr>
          <a:xfrm>
            <a:off x="320040" y="4507992"/>
            <a:ext cx="914400" cy="23774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4" name="Text 52"/>
          <p:cNvSpPr/>
          <p:nvPr/>
        </p:nvSpPr>
        <p:spPr>
          <a:xfrm>
            <a:off x="320040" y="45079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371600" y="45171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/ws/progress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63440" y="451713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WebSocket : progression temps réel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05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Interface Web – Composants du SPA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Structure de l'application Single Page Application (SPA)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 dirty="0"/>
          </a:p>
        </p:txBody>
      </p:sp>
      <p:sp>
        <p:nvSpPr>
          <p:cNvPr id="12" name="Text 10"/>
          <p:cNvSpPr/>
          <p:nvPr/>
        </p:nvSpPr>
        <p:spPr>
          <a:xfrm>
            <a:off x="932688" y="13350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Page Login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1837944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Formulaire email/password, validation côté client, appel POST /auth/login, stockage token JWT (mémoire session)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17043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3858768" y="13350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Dashboard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10128" y="1837944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Vue d'ensemble : état système, RAM totale/utilisée, dernière extraction, boutons démarrage rapide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17043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 dirty="0"/>
          </a:p>
        </p:txBody>
      </p:sp>
      <p:sp>
        <p:nvSpPr>
          <p:cNvPr id="23" name="Text 21"/>
          <p:cNvSpPr/>
          <p:nvPr/>
        </p:nvSpPr>
        <p:spPr>
          <a:xfrm>
            <a:off x="6236208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84848" y="13350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Extraction Complète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36208" y="1837944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Bouton lancement + barre de progression WebSocket. Choix format : Raw / ELF. Notification fin d'extraction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9" name="Text 27"/>
          <p:cNvSpPr/>
          <p:nvPr/>
        </p:nvSpPr>
        <p:spPr>
          <a:xfrm>
            <a:off x="384048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" y="31821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Extraction Sélective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4048" y="368503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</a:rPr>
              <a:t>Formulaire</a:t>
            </a:r>
            <a:r>
              <a:rPr lang="en-US" sz="1000" dirty="0">
                <a:solidFill>
                  <a:srgbClr val="64748B"/>
                </a:solidFill>
              </a:rPr>
              <a:t>, validation temps réel, suggestions d'adresses kernel connues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6" name="Text 34"/>
          <p:cNvSpPr/>
          <p:nvPr/>
        </p:nvSpPr>
        <p:spPr>
          <a:xfrm>
            <a:off x="3858768" y="31821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Historique &amp; Logs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10128" y="368503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Liste paginée 50/page, filtres date/type/user, hash SHA-256 affiché, lien de téléchargement sécurisé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2" name="Text 40"/>
          <p:cNvSpPr/>
          <p:nvPr/>
        </p:nvSpPr>
        <p:spPr>
          <a:xfrm>
            <a:off x="6784848" y="31821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Gestion Utilisateurs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36208" y="368503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CRUD utilisateurs (Admin), attribution rôles : Admin / Operator / Analyst / Viewer, désactivation compte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06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Sécurité &amp; Gestion des Privilèges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Implémentation des mesures de </a:t>
            </a:r>
            <a:r>
              <a:rPr lang="en-US" sz="1200" dirty="0" err="1">
                <a:solidFill>
                  <a:srgbClr val="90E0EF"/>
                </a:solidFill>
              </a:rPr>
              <a:t>sécurité</a:t>
            </a:r>
            <a:r>
              <a:rPr lang="en-US" sz="1200" dirty="0">
                <a:solidFill>
                  <a:srgbClr val="90E0EF"/>
                </a:solidFill>
              </a:rPr>
              <a:t> critiques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18872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Requête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HTTPS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1344168"/>
            <a:ext cx="2743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1" name="Shape 9"/>
          <p:cNvSpPr/>
          <p:nvPr/>
        </p:nvSpPr>
        <p:spPr>
          <a:xfrm>
            <a:off x="1737360" y="1143000"/>
            <a:ext cx="1188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2" name="Text 10"/>
          <p:cNvSpPr/>
          <p:nvPr/>
        </p:nvSpPr>
        <p:spPr>
          <a:xfrm>
            <a:off x="1737360" y="1143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JWT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344168"/>
            <a:ext cx="2743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1188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3200400" y="1143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RBAC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1344168"/>
            <a:ext cx="2743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1188720" cy="548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Text 16"/>
          <p:cNvSpPr/>
          <p:nvPr/>
        </p:nvSpPr>
        <p:spPr>
          <a:xfrm>
            <a:off x="4663440" y="1143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UID=0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344168"/>
            <a:ext cx="2743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1188720" cy="548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6126480" y="1143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344168"/>
            <a:ext cx="2743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3" name="Shape 21"/>
          <p:cNvSpPr/>
          <p:nvPr/>
        </p:nvSpPr>
        <p:spPr>
          <a:xfrm>
            <a:off x="7589520" y="1143000"/>
            <a:ext cx="1188720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4" name="Text 22"/>
          <p:cNvSpPr/>
          <p:nvPr/>
        </p:nvSpPr>
        <p:spPr>
          <a:xfrm>
            <a:off x="7589520" y="1143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Dump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7" name="Text 25"/>
          <p:cNvSpPr/>
          <p:nvPr/>
        </p:nvSpPr>
        <p:spPr>
          <a:xfrm>
            <a:off x="438912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Authentification JWT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" y="2231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Clé secrète HMAC-SHA256 (256 bits)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25054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Expiration token : 8h (configurable)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Refresh token rotation à chaque requête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8912" y="3054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Blacklist tokens révoqués en mémoire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1828800"/>
            <a:ext cx="54864" cy="15087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4" name="Text 32"/>
          <p:cNvSpPr/>
          <p:nvPr/>
        </p:nvSpPr>
        <p:spPr>
          <a:xfrm>
            <a:off x="4873752" y="1892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RBAC – Contrôle d'accès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73752" y="2231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Admin : accès total (dump, users, config)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3752" y="25054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Operator : dump + download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73752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Analyst : lecture seule historique + hash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73752" y="3054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Viewer : dashboard uniquement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474720"/>
            <a:ext cx="54864" cy="1508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1" name="Text 39"/>
          <p:cNvSpPr/>
          <p:nvPr/>
        </p:nvSpPr>
        <p:spPr>
          <a:xfrm>
            <a:off x="438912" y="3538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Sécurité Système (NetBSD)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38912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Vérif. UID=0 avant tout appel kvm_open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8912" y="4151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Plages validées : [0x0 → physmem]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38912" y="4425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Logging syslog de toutes opérations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38912" y="4700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Pas d'écriture dans /dev/mem (O_RDONLY)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09160" y="3474720"/>
            <a:ext cx="54864" cy="150876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8" name="Text 46"/>
          <p:cNvSpPr/>
          <p:nvPr/>
        </p:nvSpPr>
        <p:spPr>
          <a:xfrm>
            <a:off x="4873752" y="3538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Intégrité &amp; Transport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73752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HTTPS obligatoire (TLS 1.3)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73752" y="4151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SHA-256 calculé pendant l'extraction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73752" y="4425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Hash affiché + vérifiable par l'utilisateur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73752" y="4700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▸  Liens téléchargement signés (15 min)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07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Tests &amp; Validation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Stratégie de test, cas de test et résultats de 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188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Cas de 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Attendu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1188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Résultat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320040" y="149961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1499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Vérification UID root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51790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C7"/>
                </a:solidFill>
              </a:rPr>
              <a:t>Unitaire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1499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UID = 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0" y="149961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 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92224"/>
            <a:ext cx="859536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22" name="Text 20"/>
          <p:cNvSpPr/>
          <p:nvPr/>
        </p:nvSpPr>
        <p:spPr>
          <a:xfrm>
            <a:off x="320040" y="182880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18288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Ouverture kvm_open()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184708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C7"/>
                </a:solidFill>
              </a:rPr>
              <a:t>Unitaire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8288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Handle valide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0" y="182880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 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121408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9" name="Text 27"/>
          <p:cNvSpPr/>
          <p:nvPr/>
        </p:nvSpPr>
        <p:spPr>
          <a:xfrm>
            <a:off x="320040" y="215798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21579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Lecture buffer 1MB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1762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C7"/>
                </a:solidFill>
              </a:rPr>
              <a:t>Unitaire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1579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1048576 octets lus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0" y="215798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450592"/>
            <a:ext cx="859536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6" name="Text 34"/>
          <p:cNvSpPr/>
          <p:nvPr/>
        </p:nvSpPr>
        <p:spPr>
          <a:xfrm>
            <a:off x="320040" y="24871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UT-04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1560" y="24871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Calcul SHA-256 incrémental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25054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6C7"/>
                </a:solidFill>
              </a:rPr>
              <a:t>Unitaire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4871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Hash correct (ref OpenSSL)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0" y="24871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 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779776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3" name="Text 41"/>
          <p:cNvSpPr/>
          <p:nvPr/>
        </p:nvSpPr>
        <p:spPr>
          <a:xfrm>
            <a:off x="320040" y="2816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IT-01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51560" y="28163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Dump complet 4GB RAM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37760" y="28346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1C"/>
                </a:solidFill>
              </a:rPr>
              <a:t>Intégration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28163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Fichier .raw, hash correct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72400" y="281635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108960"/>
            <a:ext cx="859536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0" name="Text 48"/>
          <p:cNvSpPr/>
          <p:nvPr/>
        </p:nvSpPr>
        <p:spPr>
          <a:xfrm>
            <a:off x="320040" y="314553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IT-02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" y="31455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Dump sélectif 0x0-0x5000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37760" y="316382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1C"/>
                </a:solidFill>
              </a:rPr>
              <a:t>Intégration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31455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20KB exact, intègre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772400" y="314553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 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3438144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7" name="Text 55"/>
          <p:cNvSpPr/>
          <p:nvPr/>
        </p:nvSpPr>
        <p:spPr>
          <a:xfrm>
            <a:off x="320040" y="34747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IT-03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51560" y="34747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Auth JWT + endpoint dump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937760" y="34930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1C"/>
                </a:solidFill>
              </a:rPr>
              <a:t>Intégration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0" y="34747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200 OK + dump lancé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772400" y="34747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 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74320" y="3767328"/>
            <a:ext cx="859536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4" name="Text 62"/>
          <p:cNvSpPr/>
          <p:nvPr/>
        </p:nvSpPr>
        <p:spPr>
          <a:xfrm>
            <a:off x="320040" y="380390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IT-04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51560" y="38039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WebSocket progression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37760" y="38221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1C"/>
                </a:solidFill>
              </a:rPr>
              <a:t>Intégration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09360" y="38039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Events 0→100% reçus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772400" y="380390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✅ 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4320" y="4096512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71" name="Text 69"/>
          <p:cNvSpPr/>
          <p:nvPr/>
        </p:nvSpPr>
        <p:spPr>
          <a:xfrm>
            <a:off x="320040" y="41330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PT-01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051560" y="4133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Débit extraction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937760" y="415137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2585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309360" y="41330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≥ 100 MB/s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772400" y="413308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 134 MB/s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74320" y="4425696"/>
            <a:ext cx="8595360" cy="310896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78" name="Text 76"/>
          <p:cNvSpPr/>
          <p:nvPr/>
        </p:nvSpPr>
        <p:spPr>
          <a:xfrm>
            <a:off x="320040" y="44622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PT-02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51560" y="44622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Charge CPU pendant dump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937760" y="448056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2585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309360" y="44622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&lt; 20%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772400" y="446227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 12.4%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74320" y="4754880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5" name="Text 83"/>
          <p:cNvSpPr/>
          <p:nvPr/>
        </p:nvSpPr>
        <p:spPr>
          <a:xfrm>
            <a:off x="320040" y="47914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PT-03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051560" y="47914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Temps réponse API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937760" y="480974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2585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309360" y="47914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&lt; 200ms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772400" y="479145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87ms moy.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08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Difficultés Rencontrées &amp; Solutions Adoptées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Retour d'expérience sur les obstacles techniques spécifiques à NetBSD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206240" cy="841248"/>
          </a:xfrm>
          <a:prstGeom prst="rect">
            <a:avLst/>
          </a:prstGeom>
          <a:solidFill>
            <a:srgbClr val="1B2B3A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216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kvm.h spécifique à NetBSD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5361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L'API kvm diffère de Linux /proc/kcore. Documentation sparse, pas d'exemples récents.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554480"/>
            <a:ext cx="365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Shape 12"/>
          <p:cNvSpPr/>
          <p:nvPr/>
        </p:nvSpPr>
        <p:spPr>
          <a:xfrm>
            <a:off x="4846320" y="1170432"/>
            <a:ext cx="4023360" cy="841248"/>
          </a:xfrm>
          <a:prstGeom prst="rect">
            <a:avLst/>
          </a:prstGeom>
          <a:solidFill>
            <a:srgbClr val="0A221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4983480" y="1216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490472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Lecture approfondie des man pages NetBSD. Tests sur VM dédiée. kvm_getprocs() pour validation plages kernel.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30552"/>
            <a:ext cx="4206240" cy="841248"/>
          </a:xfrm>
          <a:prstGeom prst="rect">
            <a:avLst/>
          </a:prstGeom>
          <a:solidFill>
            <a:srgbClr val="1B2B3A"/>
          </a:solidFill>
          <a:ln w="12700">
            <a:solidFill>
              <a:srgbClr val="F72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320040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176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Permissions /dev/mem restrictives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24963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NetBSD restreint davantage /dev/mem que Linux. Kernel securelevel peut bloquer l'accès.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2514600"/>
            <a:ext cx="365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3" name="Shape 21"/>
          <p:cNvSpPr/>
          <p:nvPr/>
        </p:nvSpPr>
        <p:spPr>
          <a:xfrm>
            <a:off x="4846320" y="2130552"/>
            <a:ext cx="4023360" cy="841248"/>
          </a:xfrm>
          <a:prstGeom prst="rect">
            <a:avLst/>
          </a:prstGeom>
          <a:solidFill>
            <a:srgbClr val="0A221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4983480" y="2308860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Démarrage en securelevel=0 pour dev. Documentation condition : UID=0 + securelevel ≤ 1 explicitement.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90672"/>
            <a:ext cx="4206240" cy="841248"/>
          </a:xfrm>
          <a:prstGeom prst="rect">
            <a:avLst/>
          </a:prstGeom>
          <a:solidFill>
            <a:srgbClr val="1B2B3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8" name="Text 26"/>
          <p:cNvSpPr/>
          <p:nvPr/>
        </p:nvSpPr>
        <p:spPr>
          <a:xfrm>
            <a:off x="32004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3136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libmicrohttpd sur NetBSD pkgsrc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Version pkgsrc différente de la documentation Debian. Changements API sur gestion HTTPS.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474720"/>
            <a:ext cx="365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2" name="Shape 30"/>
          <p:cNvSpPr/>
          <p:nvPr/>
        </p:nvSpPr>
        <p:spPr>
          <a:xfrm>
            <a:off x="4846320" y="3090672"/>
            <a:ext cx="4023360" cy="841248"/>
          </a:xfrm>
          <a:prstGeom prst="rect">
            <a:avLst/>
          </a:prstGeom>
          <a:solidFill>
            <a:srgbClr val="0A221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4" name="Text 32"/>
          <p:cNvSpPr/>
          <p:nvPr/>
        </p:nvSpPr>
        <p:spPr>
          <a:xfrm>
            <a:off x="4983480" y="3259836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Compilation depuis sources. Adaptateurs de compatibilité pour les headers HTTPS. Tests sur ports 8080/443.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050792"/>
            <a:ext cx="4206240" cy="841248"/>
          </a:xfrm>
          <a:prstGeom prst="rect">
            <a:avLst/>
          </a:prstGeom>
          <a:solidFill>
            <a:srgbClr val="1B2B3A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7" name="Text 35"/>
          <p:cNvSpPr/>
          <p:nvPr/>
        </p:nvSpPr>
        <p:spPr>
          <a:xfrm>
            <a:off x="320040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40965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 WebSocket natif en C pur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" y="44165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Pas de bibliothèque WebSocket standard en C pour NetBSD. Implémentation from scratch nécessaire.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4434840"/>
            <a:ext cx="365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1" name="Shape 39"/>
          <p:cNvSpPr/>
          <p:nvPr/>
        </p:nvSpPr>
        <p:spPr>
          <a:xfrm>
            <a:off x="4846320" y="4050792"/>
            <a:ext cx="4023360" cy="841248"/>
          </a:xfrm>
          <a:prstGeom prst="rect">
            <a:avLst/>
          </a:prstGeom>
          <a:solidFill>
            <a:srgbClr val="0A221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3" name="Text 41"/>
          <p:cNvSpPr/>
          <p:nvPr/>
        </p:nvSpPr>
        <p:spPr>
          <a:xfrm>
            <a:off x="4983480" y="4229100"/>
            <a:ext cx="3749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Implémentation protocole WS RFC 6455 minimal (handshake + frames). Poll() pour multi-clients sans threads lourds.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CONNEXION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92024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274320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Connexion Rapide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par défaut: admin/admin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TABLEAU DE BORD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828800"/>
            <a:ext cx="137160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377440"/>
            <a:ext cx="356616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512064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Complet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2880360"/>
            <a:ext cx="320040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1" name="Text 19"/>
          <p:cNvSpPr/>
          <p:nvPr/>
        </p:nvSpPr>
        <p:spPr>
          <a:xfrm>
            <a:off x="5120640" y="2971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566160"/>
            <a:ext cx="356616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3" name="Text 21"/>
          <p:cNvSpPr/>
          <p:nvPr/>
        </p:nvSpPr>
        <p:spPr>
          <a:xfrm>
            <a:off x="512064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 Sélectif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4023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 → 0x5000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DÉMONSTRATION EN DIRECT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37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00" cy="1371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Étape 3 sur 4: Extraction en cours...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Interface Web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10312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10312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1. CONNEXION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1828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1" name="Text 9"/>
          <p:cNvSpPr/>
          <p:nvPr/>
        </p:nvSpPr>
        <p:spPr>
          <a:xfrm>
            <a:off x="640080" y="24963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2788920"/>
            <a:ext cx="18288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640080" y="28163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1828800" cy="1371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CM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27248"/>
            <a:ext cx="91440" cy="91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3127248"/>
            <a:ext cx="14630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Connexion Rapide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743200" y="1920240"/>
            <a:ext cx="228600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18" name="Shape 15"/>
          <p:cNvSpPr/>
          <p:nvPr/>
        </p:nvSpPr>
        <p:spPr>
          <a:xfrm>
            <a:off x="2743200" y="1920240"/>
            <a:ext cx="228600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19" name="Text 16"/>
          <p:cNvSpPr/>
          <p:nvPr/>
        </p:nvSpPr>
        <p:spPr>
          <a:xfrm>
            <a:off x="2743200" y="2011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2. TABLEAU DE BORD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834640" y="2377440"/>
            <a:ext cx="1005840" cy="2286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1" name="Text 18"/>
          <p:cNvSpPr/>
          <p:nvPr/>
        </p:nvSpPr>
        <p:spPr>
          <a:xfrm>
            <a:off x="2834640" y="2404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931920" y="2377440"/>
            <a:ext cx="100584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3" name="Text 20"/>
          <p:cNvSpPr/>
          <p:nvPr/>
        </p:nvSpPr>
        <p:spPr>
          <a:xfrm>
            <a:off x="3931920" y="2404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834640" y="274320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5" name="Text 22"/>
          <p:cNvSpPr/>
          <p:nvPr/>
        </p:nvSpPr>
        <p:spPr>
          <a:xfrm>
            <a:off x="2926080" y="2788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Dump Complet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926080" y="3017520"/>
            <a:ext cx="1828800" cy="1371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27" name="Text 24"/>
          <p:cNvSpPr/>
          <p:nvPr/>
        </p:nvSpPr>
        <p:spPr>
          <a:xfrm>
            <a:off x="2926080" y="303580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Démarrer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57200" y="3520440"/>
            <a:ext cx="457200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9" name="Shape 26"/>
          <p:cNvSpPr/>
          <p:nvPr/>
        </p:nvSpPr>
        <p:spPr>
          <a:xfrm>
            <a:off x="457200" y="3520440"/>
            <a:ext cx="45720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0" name="Text 27"/>
          <p:cNvSpPr/>
          <p:nvPr/>
        </p:nvSpPr>
        <p:spPr>
          <a:xfrm>
            <a:off x="457200" y="36118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3. HISTORIQUE DES DUMPS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48640" y="3977640"/>
            <a:ext cx="43891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2" name="Text 29"/>
          <p:cNvSpPr/>
          <p:nvPr/>
        </p:nvSpPr>
        <p:spPr>
          <a:xfrm>
            <a:off x="640080" y="402336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admin_1768300225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40080" y="414223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1/13/2026, 11:30:25 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40080" y="423367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0.00 MB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657600" y="4069080"/>
            <a:ext cx="1097280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6" name="Text 33"/>
          <p:cNvSpPr/>
          <p:nvPr/>
        </p:nvSpPr>
        <p:spPr>
          <a:xfrm>
            <a:off x="3657600" y="408736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⬇ Télécharger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48640" y="4389120"/>
            <a:ext cx="438912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38" name="Text 35"/>
          <p:cNvSpPr/>
          <p:nvPr/>
        </p:nvSpPr>
        <p:spPr>
          <a:xfrm>
            <a:off x="640080" y="4434840"/>
            <a:ext cx="2286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admin_s_1768300378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40080" y="455371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1/13/2026, 11:32:58 AM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0080" y="4645152"/>
            <a:ext cx="2286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0.00 MB 0x1000-0x5000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657600" y="4480560"/>
            <a:ext cx="1097280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2" name="Text 39"/>
          <p:cNvSpPr/>
          <p:nvPr/>
        </p:nvSpPr>
        <p:spPr>
          <a:xfrm>
            <a:off x="3657600" y="449884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⬇ Télécharger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3035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Étapes de Démonstration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5303520" y="1920240"/>
            <a:ext cx="338328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45" name="Shape 42"/>
          <p:cNvSpPr/>
          <p:nvPr/>
        </p:nvSpPr>
        <p:spPr>
          <a:xfrm>
            <a:off x="5440680" y="20574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46" name="Text 43"/>
          <p:cNvSpPr/>
          <p:nvPr/>
        </p:nvSpPr>
        <p:spPr>
          <a:xfrm>
            <a:off x="54406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897880" y="20574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Ouvrir le navigateur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897880" y="226771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http://localhost:5000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148840"/>
            <a:ext cx="274320" cy="274320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5303520" y="2651760"/>
            <a:ext cx="338328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51" name="Shape 47"/>
          <p:cNvSpPr/>
          <p:nvPr/>
        </p:nvSpPr>
        <p:spPr>
          <a:xfrm>
            <a:off x="5440680" y="27889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52" name="Text 48"/>
          <p:cNvSpPr/>
          <p:nvPr/>
        </p:nvSpPr>
        <p:spPr>
          <a:xfrm>
            <a:off x="54406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5897880" y="27889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Connexion rapide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5897880" y="299923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Cliquer sur 'Connexion Rapide'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880360"/>
            <a:ext cx="274320" cy="274320"/>
          </a:xfrm>
          <a:prstGeom prst="rect">
            <a:avLst/>
          </a:prstGeom>
        </p:spPr>
      </p:pic>
      <p:sp>
        <p:nvSpPr>
          <p:cNvPr id="56" name="Shape 51"/>
          <p:cNvSpPr/>
          <p:nvPr/>
        </p:nvSpPr>
        <p:spPr>
          <a:xfrm>
            <a:off x="5303520" y="3383280"/>
            <a:ext cx="338328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57" name="Shape 52"/>
          <p:cNvSpPr/>
          <p:nvPr/>
        </p:nvSpPr>
        <p:spPr>
          <a:xfrm>
            <a:off x="5440680" y="35204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58" name="Text 53"/>
          <p:cNvSpPr/>
          <p:nvPr/>
        </p:nvSpPr>
        <p:spPr>
          <a:xfrm>
            <a:off x="54406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4"/>
          <p:cNvSpPr/>
          <p:nvPr/>
        </p:nvSpPr>
        <p:spPr>
          <a:xfrm>
            <a:off x="5897880" y="35204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Lancer extraction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5"/>
          <p:cNvSpPr/>
          <p:nvPr/>
        </p:nvSpPr>
        <p:spPr>
          <a:xfrm>
            <a:off x="5897880" y="373075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Démarrer Dump Complet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611880"/>
            <a:ext cx="274320" cy="274320"/>
          </a:xfrm>
          <a:prstGeom prst="rect">
            <a:avLst/>
          </a:prstGeom>
        </p:spPr>
      </p:pic>
      <p:sp>
        <p:nvSpPr>
          <p:cNvPr id="62" name="Shape 56"/>
          <p:cNvSpPr/>
          <p:nvPr/>
        </p:nvSpPr>
        <p:spPr>
          <a:xfrm>
            <a:off x="5303520" y="4114800"/>
            <a:ext cx="33832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63" name="Shape 57"/>
          <p:cNvSpPr/>
          <p:nvPr/>
        </p:nvSpPr>
        <p:spPr>
          <a:xfrm>
            <a:off x="5440680" y="42519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64" name="Text 58"/>
          <p:cNvSpPr/>
          <p:nvPr/>
        </p:nvSpPr>
        <p:spPr>
          <a:xfrm>
            <a:off x="54406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9"/>
          <p:cNvSpPr/>
          <p:nvPr/>
        </p:nvSpPr>
        <p:spPr>
          <a:xfrm>
            <a:off x="5897880" y="42519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Consulter résultats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0"/>
          <p:cNvSpPr/>
          <p:nvPr/>
        </p:nvSpPr>
        <p:spPr>
          <a:xfrm>
            <a:off x="5897880" y="4462272"/>
            <a:ext cx="2651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Onglet Historique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1"/>
          <p:cNvSpPr/>
          <p:nvPr/>
        </p:nvSpPr>
        <p:spPr>
          <a:xfrm>
            <a:off x="5303520" y="4480560"/>
            <a:ext cx="3383280" cy="320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fr-CM"/>
          </a:p>
        </p:txBody>
      </p:sp>
      <p:sp>
        <p:nvSpPr>
          <p:cNvPr id="68" name="Text 62"/>
          <p:cNvSpPr/>
          <p:nvPr/>
        </p:nvSpPr>
        <p:spPr>
          <a:xfrm>
            <a:off x="5394960" y="4526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Application fonctionnelle et testée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</a:rPr>
              <a:t>09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60120" y="256032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Text 4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Bilan de la Réalisation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713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Livrables produits, conformité aux exigences et prochaines étapes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implémentés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D6A0"/>
                </a:solidFill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2316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validés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9F1C"/>
                </a:solidFill>
              </a:rPr>
              <a:t>134 MB/s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Débit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12.4%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20840" y="1719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Charge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CPU max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194560"/>
            <a:ext cx="4206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6" name="Text 24"/>
          <p:cNvSpPr/>
          <p:nvPr/>
        </p:nvSpPr>
        <p:spPr>
          <a:xfrm>
            <a:off x="45720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  Livrables Produits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26517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Code source C/C++ complet (9 modules)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2971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Serveur HTTP REST + WebSocket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29184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Interface web SPA (HTML5/CSS3/JS)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61188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Script d'installation NetBSD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93192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Fichiers de configuration (config.json)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2519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Suite de tests unitaires &amp; intégration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5720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Documentation technique du code (Doxygen)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194560"/>
            <a:ext cx="4206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6" name="Text 34"/>
          <p:cNvSpPr/>
          <p:nvPr/>
        </p:nvSpPr>
        <p:spPr>
          <a:xfrm>
            <a:off x="484632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Perspectives &amp; Phase Déploiement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265176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Déploiement sur machine physique NetBSD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297180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Configuration TLS/HTTPS certificat réel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329184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Tests de charge (1GB, 4GB, 16GB RAM)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61188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Packaging pkgsrc pour distribution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393192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Extension : support NetBSD ARM64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425196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Amélioration : compression LZ4 des dumps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457200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  Rapport de déploiement (Phase 4)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Shape 3"/>
          <p:cNvSpPr/>
          <p:nvPr/>
        </p:nvSpPr>
        <p:spPr>
          <a:xfrm>
            <a:off x="5032098" y="3883914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" name="Shape 4"/>
          <p:cNvSpPr/>
          <p:nvPr/>
        </p:nvSpPr>
        <p:spPr>
          <a:xfrm>
            <a:off x="5029200" y="100584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6"/>
          <p:cNvSpPr/>
          <p:nvPr/>
        </p:nvSpPr>
        <p:spPr>
          <a:xfrm>
            <a:off x="5029200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Shape 7"/>
          <p:cNvSpPr/>
          <p:nvPr/>
        </p:nvSpPr>
        <p:spPr>
          <a:xfrm>
            <a:off x="5029200" y="320040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Shape 8"/>
          <p:cNvSpPr/>
          <p:nvPr/>
        </p:nvSpPr>
        <p:spPr>
          <a:xfrm>
            <a:off x="5592328" y="3883914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11" name="Shape 9"/>
          <p:cNvSpPr/>
          <p:nvPr/>
        </p:nvSpPr>
        <p:spPr>
          <a:xfrm>
            <a:off x="5577840" y="100584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Shape 11"/>
          <p:cNvSpPr/>
          <p:nvPr/>
        </p:nvSpPr>
        <p:spPr>
          <a:xfrm>
            <a:off x="5577840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Shape 12"/>
          <p:cNvSpPr/>
          <p:nvPr/>
        </p:nvSpPr>
        <p:spPr>
          <a:xfrm>
            <a:off x="5577840" y="320040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0" name="Shape 18"/>
          <p:cNvSpPr/>
          <p:nvPr/>
        </p:nvSpPr>
        <p:spPr>
          <a:xfrm>
            <a:off x="6669325" y="3883914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Shape 19"/>
          <p:cNvSpPr/>
          <p:nvPr/>
        </p:nvSpPr>
        <p:spPr>
          <a:xfrm>
            <a:off x="6675120" y="100584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2" name="Shape 20"/>
          <p:cNvSpPr/>
          <p:nvPr/>
        </p:nvSpPr>
        <p:spPr>
          <a:xfrm>
            <a:off x="6675120" y="173736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3" name="Shape 21"/>
          <p:cNvSpPr/>
          <p:nvPr/>
        </p:nvSpPr>
        <p:spPr>
          <a:xfrm>
            <a:off x="6675120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4" name="Shape 22"/>
          <p:cNvSpPr/>
          <p:nvPr/>
        </p:nvSpPr>
        <p:spPr>
          <a:xfrm>
            <a:off x="6675120" y="320040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5" name="Shape 23"/>
          <p:cNvSpPr/>
          <p:nvPr/>
        </p:nvSpPr>
        <p:spPr>
          <a:xfrm>
            <a:off x="7212170" y="3883914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6" name="Shape 24"/>
          <p:cNvSpPr/>
          <p:nvPr/>
        </p:nvSpPr>
        <p:spPr>
          <a:xfrm>
            <a:off x="7223760" y="100584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7" name="Shape 25"/>
          <p:cNvSpPr/>
          <p:nvPr/>
        </p:nvSpPr>
        <p:spPr>
          <a:xfrm>
            <a:off x="7223760" y="173736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8" name="Shape 26"/>
          <p:cNvSpPr/>
          <p:nvPr/>
        </p:nvSpPr>
        <p:spPr>
          <a:xfrm>
            <a:off x="7223760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9" name="Shape 27"/>
          <p:cNvSpPr/>
          <p:nvPr/>
        </p:nvSpPr>
        <p:spPr>
          <a:xfrm>
            <a:off x="7223760" y="320040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0" name="Shape 28"/>
          <p:cNvSpPr/>
          <p:nvPr/>
        </p:nvSpPr>
        <p:spPr>
          <a:xfrm>
            <a:off x="7772400" y="3860959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1" name="Shape 29"/>
          <p:cNvSpPr/>
          <p:nvPr/>
        </p:nvSpPr>
        <p:spPr>
          <a:xfrm>
            <a:off x="7772400" y="100584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3" name="Shape 31"/>
          <p:cNvSpPr/>
          <p:nvPr/>
        </p:nvSpPr>
        <p:spPr>
          <a:xfrm>
            <a:off x="7772400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5" name="Shape 33"/>
          <p:cNvSpPr/>
          <p:nvPr/>
        </p:nvSpPr>
        <p:spPr>
          <a:xfrm>
            <a:off x="8332630" y="3883914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6" name="Shape 34"/>
          <p:cNvSpPr/>
          <p:nvPr/>
        </p:nvSpPr>
        <p:spPr>
          <a:xfrm>
            <a:off x="8321040" y="100584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8" name="Shape 36"/>
          <p:cNvSpPr/>
          <p:nvPr/>
        </p:nvSpPr>
        <p:spPr>
          <a:xfrm>
            <a:off x="8321040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5" name="Text 43"/>
          <p:cNvSpPr/>
          <p:nvPr/>
        </p:nvSpPr>
        <p:spPr>
          <a:xfrm>
            <a:off x="107860" y="1713213"/>
            <a:ext cx="297823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B4D8"/>
                </a:solidFill>
              </a:rPr>
              <a:t>MERCI</a:t>
            </a:r>
            <a:endParaRPr lang="en-US" sz="7200" dirty="0"/>
          </a:p>
        </p:txBody>
      </p:sp>
      <p:sp>
        <p:nvSpPr>
          <p:cNvPr id="47" name="Shape 45"/>
          <p:cNvSpPr/>
          <p:nvPr/>
        </p:nvSpPr>
        <p:spPr>
          <a:xfrm>
            <a:off x="182880" y="2873598"/>
            <a:ext cx="2903219" cy="7315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1CD61198-A3A3-E212-ADA4-A7AF564584C0}"/>
              </a:ext>
            </a:extLst>
          </p:cNvPr>
          <p:cNvSpPr/>
          <p:nvPr/>
        </p:nvSpPr>
        <p:spPr>
          <a:xfrm>
            <a:off x="4469129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3A5F4677-ED8E-B94C-DCA9-CAAE39869AEE}"/>
              </a:ext>
            </a:extLst>
          </p:cNvPr>
          <p:cNvSpPr/>
          <p:nvPr/>
        </p:nvSpPr>
        <p:spPr>
          <a:xfrm>
            <a:off x="4480560" y="173736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1FE28140-9681-C407-30E2-118BEE131C0A}"/>
              </a:ext>
            </a:extLst>
          </p:cNvPr>
          <p:cNvSpPr/>
          <p:nvPr/>
        </p:nvSpPr>
        <p:spPr>
          <a:xfrm>
            <a:off x="4480560" y="1019556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E03365A6-24A3-8385-8EBC-BC9DB98B06D5}"/>
              </a:ext>
            </a:extLst>
          </p:cNvPr>
          <p:cNvSpPr/>
          <p:nvPr/>
        </p:nvSpPr>
        <p:spPr>
          <a:xfrm>
            <a:off x="4480560" y="3883914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5492BCC1-3E9E-A9B1-E06B-E64D010285F4}"/>
              </a:ext>
            </a:extLst>
          </p:cNvPr>
          <p:cNvSpPr/>
          <p:nvPr/>
        </p:nvSpPr>
        <p:spPr>
          <a:xfrm>
            <a:off x="3931920" y="3880686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7F51CDEF-EE36-FDD7-51B0-B3CFC91003C9}"/>
              </a:ext>
            </a:extLst>
          </p:cNvPr>
          <p:cNvSpPr/>
          <p:nvPr/>
        </p:nvSpPr>
        <p:spPr>
          <a:xfrm>
            <a:off x="3931920" y="246888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841CE9E4-7775-1920-85C5-E6419EE45401}"/>
              </a:ext>
            </a:extLst>
          </p:cNvPr>
          <p:cNvSpPr/>
          <p:nvPr/>
        </p:nvSpPr>
        <p:spPr>
          <a:xfrm>
            <a:off x="3931920" y="1725459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62" name="Shape 7">
            <a:extLst>
              <a:ext uri="{FF2B5EF4-FFF2-40B4-BE49-F238E27FC236}">
                <a16:creationId xmlns:a16="http://schemas.microsoft.com/office/drawing/2014/main" id="{F1928C62-0DB5-49BC-31CA-7AEBD2979182}"/>
              </a:ext>
            </a:extLst>
          </p:cNvPr>
          <p:cNvSpPr/>
          <p:nvPr/>
        </p:nvSpPr>
        <p:spPr>
          <a:xfrm>
            <a:off x="3931920" y="1005840"/>
            <a:ext cx="411480" cy="502920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2003</Words>
  <Application>Microsoft Office PowerPoint</Application>
  <PresentationFormat>Affichage à l'écran (16:9)</PresentationFormat>
  <Paragraphs>412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Réalisation – RAM Dumper</dc:title>
  <dc:subject>PptxGenJS Presentation</dc:subject>
  <dc:creator>TEMGOUA Lionnel &amp; SIMO SOH Yannick Dylan</dc:creator>
  <cp:lastModifiedBy>yannick simo</cp:lastModifiedBy>
  <cp:revision>6</cp:revision>
  <dcterms:created xsi:type="dcterms:W3CDTF">2026-02-25T10:33:35Z</dcterms:created>
  <dcterms:modified xsi:type="dcterms:W3CDTF">2026-02-25T13:51:07Z</dcterms:modified>
</cp:coreProperties>
</file>